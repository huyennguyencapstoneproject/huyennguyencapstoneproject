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sldIdLst>
    <p:sldId id="256" r:id="rId2"/>
    <p:sldId id="257" r:id="rId3"/>
    <p:sldId id="258" r:id="rId4"/>
    <p:sldId id="259" r:id="rId5"/>
    <p:sldId id="260" r:id="rId6"/>
    <p:sldId id="261" r:id="rId7"/>
    <p:sldId id="266"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DE27FE-6699-4789-9F7F-D3766EAD3C88}" type="doc">
      <dgm:prSet loTypeId="urn:microsoft.com/office/officeart/2005/8/layout/arrow5" loCatId="relationship" qsTypeId="urn:microsoft.com/office/officeart/2005/8/quickstyle/simple1" qsCatId="simple" csTypeId="urn:microsoft.com/office/officeart/2005/8/colors/accent1_2" csCatId="accent1" phldr="1"/>
      <dgm:spPr/>
      <dgm:t>
        <a:bodyPr/>
        <a:lstStyle/>
        <a:p>
          <a:endParaRPr lang="en-US"/>
        </a:p>
      </dgm:t>
    </dgm:pt>
    <dgm:pt modelId="{9D9386BF-177C-4BF0-A1D8-89983AD64A00}">
      <dgm:prSet custT="1"/>
      <dgm:spPr/>
      <dgm:t>
        <a:bodyPr/>
        <a:lstStyle/>
        <a:p>
          <a:r>
            <a:rPr lang="en-US" sz="1200" dirty="0">
              <a:latin typeface="Times New Roman" panose="02020603050405020304" pitchFamily="18" charset="0"/>
              <a:cs typeface="Times New Roman" panose="02020603050405020304" pitchFamily="18" charset="0"/>
            </a:rPr>
            <a:t>How significantly did the transition to remote learning and social isolation during the COVID-19 pandemic impact the mental health of college students, including aspects such as anxiety, depression, and feelings of loneliness? </a:t>
          </a:r>
        </a:p>
      </dgm:t>
    </dgm:pt>
    <dgm:pt modelId="{4E8AFA1F-EBF0-4C28-9357-773F77B561AA}" type="parTrans" cxnId="{E8207802-5625-47F4-B0A7-A4A4BCCCC9BE}">
      <dgm:prSet/>
      <dgm:spPr/>
      <dgm:t>
        <a:bodyPr/>
        <a:lstStyle/>
        <a:p>
          <a:endParaRPr lang="en-US"/>
        </a:p>
      </dgm:t>
    </dgm:pt>
    <dgm:pt modelId="{AC5B397B-918B-4F39-BC70-986A8BFE0437}" type="sibTrans" cxnId="{E8207802-5625-47F4-B0A7-A4A4BCCCC9BE}">
      <dgm:prSet/>
      <dgm:spPr/>
      <dgm:t>
        <a:bodyPr/>
        <a:lstStyle/>
        <a:p>
          <a:endParaRPr lang="en-US"/>
        </a:p>
      </dgm:t>
    </dgm:pt>
    <dgm:pt modelId="{C08202F0-020A-442E-81F7-2C5C665EA9DA}">
      <dgm:prSet/>
      <dgm:spPr/>
      <dgm:t>
        <a:bodyPr/>
        <a:lstStyle/>
        <a:p>
          <a:r>
            <a:rPr lang="en-US" dirty="0">
              <a:latin typeface="Times New Roman" panose="02020603050405020304" pitchFamily="18" charset="0"/>
              <a:cs typeface="Times New Roman" panose="02020603050405020304" pitchFamily="18" charset="0"/>
            </a:rPr>
            <a:t>How did existing demographic factors, such as gender, race/ethnicity, and socioeconomic status, along with individual coping mechanisms, influence the mental health effects of the COVID-19 pandemic on college students</a:t>
          </a:r>
          <a:r>
            <a:rPr lang="en-US" dirty="0"/>
            <a:t>? </a:t>
          </a:r>
        </a:p>
      </dgm:t>
    </dgm:pt>
    <dgm:pt modelId="{E9F66C8F-FD25-47E0-8D89-E8E93DD96E78}" type="parTrans" cxnId="{E0F866B0-72E5-4CEE-B22B-3F355A9B271A}">
      <dgm:prSet/>
      <dgm:spPr/>
      <dgm:t>
        <a:bodyPr/>
        <a:lstStyle/>
        <a:p>
          <a:endParaRPr lang="en-US"/>
        </a:p>
      </dgm:t>
    </dgm:pt>
    <dgm:pt modelId="{7CC699B8-2A30-47A7-A912-EB627047D980}" type="sibTrans" cxnId="{E0F866B0-72E5-4CEE-B22B-3F355A9B271A}">
      <dgm:prSet/>
      <dgm:spPr/>
      <dgm:t>
        <a:bodyPr/>
        <a:lstStyle/>
        <a:p>
          <a:endParaRPr lang="en-US"/>
        </a:p>
      </dgm:t>
    </dgm:pt>
    <dgm:pt modelId="{246EC452-3A8B-4AEE-AE87-439510119CCD}">
      <dgm:prSet custT="1"/>
      <dgm:spPr/>
      <dgm:t>
        <a:bodyPr/>
        <a:lstStyle/>
        <a:p>
          <a:r>
            <a:rPr lang="en-US" sz="1200" dirty="0">
              <a:latin typeface="Times New Roman" panose="02020603050405020304" pitchFamily="18" charset="0"/>
              <a:cs typeface="Times New Roman" panose="02020603050405020304" pitchFamily="18" charset="0"/>
            </a:rPr>
            <a:t>What were the main obstacles to accessing mental health services for college students during the pandemic, and how did the growth of telehealth influence patterns of service use and outcomes</a:t>
          </a:r>
          <a:r>
            <a:rPr lang="en-US" sz="1100" dirty="0"/>
            <a:t>? </a:t>
          </a:r>
        </a:p>
      </dgm:t>
    </dgm:pt>
    <dgm:pt modelId="{B4E2B710-0483-4777-B801-8A30FE3F3C30}" type="parTrans" cxnId="{17ED1CF9-2202-4972-89EB-1FD18D47CEBA}">
      <dgm:prSet/>
      <dgm:spPr/>
      <dgm:t>
        <a:bodyPr/>
        <a:lstStyle/>
        <a:p>
          <a:endParaRPr lang="en-US"/>
        </a:p>
      </dgm:t>
    </dgm:pt>
    <dgm:pt modelId="{CEA3106B-9854-4292-B3EF-CF4B80638DCD}" type="sibTrans" cxnId="{17ED1CF9-2202-4972-89EB-1FD18D47CEBA}">
      <dgm:prSet/>
      <dgm:spPr/>
      <dgm:t>
        <a:bodyPr/>
        <a:lstStyle/>
        <a:p>
          <a:endParaRPr lang="en-US"/>
        </a:p>
      </dgm:t>
    </dgm:pt>
    <dgm:pt modelId="{88E0D318-C8DF-4EFD-83BB-F10CA4247E4B}" type="pres">
      <dgm:prSet presAssocID="{A4DE27FE-6699-4789-9F7F-D3766EAD3C88}" presName="diagram" presStyleCnt="0">
        <dgm:presLayoutVars>
          <dgm:dir/>
          <dgm:resizeHandles val="exact"/>
        </dgm:presLayoutVars>
      </dgm:prSet>
      <dgm:spPr/>
    </dgm:pt>
    <dgm:pt modelId="{02BDC789-27DD-4F58-BBF0-377BA43C82C6}" type="pres">
      <dgm:prSet presAssocID="{9D9386BF-177C-4BF0-A1D8-89983AD64A00}" presName="arrow" presStyleLbl="node1" presStyleIdx="0" presStyleCnt="3" custScaleX="268374" custScaleY="126180" custRadScaleRad="91805" custRadScaleInc="378">
        <dgm:presLayoutVars>
          <dgm:bulletEnabled val="1"/>
        </dgm:presLayoutVars>
      </dgm:prSet>
      <dgm:spPr/>
    </dgm:pt>
    <dgm:pt modelId="{9FD355B2-0E9C-44C3-81F3-1D8D899EED29}" type="pres">
      <dgm:prSet presAssocID="{C08202F0-020A-442E-81F7-2C5C665EA9DA}" presName="arrow" presStyleLbl="node1" presStyleIdx="1" presStyleCnt="3" custScaleX="127008" custScaleY="162910">
        <dgm:presLayoutVars>
          <dgm:bulletEnabled val="1"/>
        </dgm:presLayoutVars>
      </dgm:prSet>
      <dgm:spPr/>
    </dgm:pt>
    <dgm:pt modelId="{ECF221C1-A102-4A05-9843-E9449EE32A93}" type="pres">
      <dgm:prSet presAssocID="{246EC452-3A8B-4AEE-AE87-439510119CCD}" presName="arrow" presStyleLbl="node1" presStyleIdx="2" presStyleCnt="3" custScaleX="178491" custScaleY="125826">
        <dgm:presLayoutVars>
          <dgm:bulletEnabled val="1"/>
        </dgm:presLayoutVars>
      </dgm:prSet>
      <dgm:spPr/>
    </dgm:pt>
  </dgm:ptLst>
  <dgm:cxnLst>
    <dgm:cxn modelId="{E8207802-5625-47F4-B0A7-A4A4BCCCC9BE}" srcId="{A4DE27FE-6699-4789-9F7F-D3766EAD3C88}" destId="{9D9386BF-177C-4BF0-A1D8-89983AD64A00}" srcOrd="0" destOrd="0" parTransId="{4E8AFA1F-EBF0-4C28-9357-773F77B561AA}" sibTransId="{AC5B397B-918B-4F39-BC70-986A8BFE0437}"/>
    <dgm:cxn modelId="{77147D33-2A71-4F76-845D-CE6BA51C3E27}" type="presOf" srcId="{246EC452-3A8B-4AEE-AE87-439510119CCD}" destId="{ECF221C1-A102-4A05-9843-E9449EE32A93}" srcOrd="0" destOrd="0" presId="urn:microsoft.com/office/officeart/2005/8/layout/arrow5"/>
    <dgm:cxn modelId="{9313D171-D66A-4CD8-B500-1D8B2FDF2EF6}" type="presOf" srcId="{A4DE27FE-6699-4789-9F7F-D3766EAD3C88}" destId="{88E0D318-C8DF-4EFD-83BB-F10CA4247E4B}" srcOrd="0" destOrd="0" presId="urn:microsoft.com/office/officeart/2005/8/layout/arrow5"/>
    <dgm:cxn modelId="{B8935F7E-8A13-4385-913B-DB12C249637F}" type="presOf" srcId="{C08202F0-020A-442E-81F7-2C5C665EA9DA}" destId="{9FD355B2-0E9C-44C3-81F3-1D8D899EED29}" srcOrd="0" destOrd="0" presId="urn:microsoft.com/office/officeart/2005/8/layout/arrow5"/>
    <dgm:cxn modelId="{E0F866B0-72E5-4CEE-B22B-3F355A9B271A}" srcId="{A4DE27FE-6699-4789-9F7F-D3766EAD3C88}" destId="{C08202F0-020A-442E-81F7-2C5C665EA9DA}" srcOrd="1" destOrd="0" parTransId="{E9F66C8F-FD25-47E0-8D89-E8E93DD96E78}" sibTransId="{7CC699B8-2A30-47A7-A912-EB627047D980}"/>
    <dgm:cxn modelId="{5CFECDB7-FA06-42EF-9E18-9E77364B79EC}" type="presOf" srcId="{9D9386BF-177C-4BF0-A1D8-89983AD64A00}" destId="{02BDC789-27DD-4F58-BBF0-377BA43C82C6}" srcOrd="0" destOrd="0" presId="urn:microsoft.com/office/officeart/2005/8/layout/arrow5"/>
    <dgm:cxn modelId="{17ED1CF9-2202-4972-89EB-1FD18D47CEBA}" srcId="{A4DE27FE-6699-4789-9F7F-D3766EAD3C88}" destId="{246EC452-3A8B-4AEE-AE87-439510119CCD}" srcOrd="2" destOrd="0" parTransId="{B4E2B710-0483-4777-B801-8A30FE3F3C30}" sibTransId="{CEA3106B-9854-4292-B3EF-CF4B80638DCD}"/>
    <dgm:cxn modelId="{EE13362B-367B-48B9-ABCE-7F07FA54A369}" type="presParOf" srcId="{88E0D318-C8DF-4EFD-83BB-F10CA4247E4B}" destId="{02BDC789-27DD-4F58-BBF0-377BA43C82C6}" srcOrd="0" destOrd="0" presId="urn:microsoft.com/office/officeart/2005/8/layout/arrow5"/>
    <dgm:cxn modelId="{4D4D1559-2BDF-45AF-90FD-BC31FAF43FBE}" type="presParOf" srcId="{88E0D318-C8DF-4EFD-83BB-F10CA4247E4B}" destId="{9FD355B2-0E9C-44C3-81F3-1D8D899EED29}" srcOrd="1" destOrd="0" presId="urn:microsoft.com/office/officeart/2005/8/layout/arrow5"/>
    <dgm:cxn modelId="{B22BDDEF-E6CE-49C6-92E8-80A1E5C01665}" type="presParOf" srcId="{88E0D318-C8DF-4EFD-83BB-F10CA4247E4B}" destId="{ECF221C1-A102-4A05-9843-E9449EE32A93}" srcOrd="2" destOrd="0" presId="urn:microsoft.com/office/officeart/2005/8/layout/arrow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BDC789-27DD-4F58-BBF0-377BA43C82C6}">
      <dsp:nvSpPr>
        <dsp:cNvPr id="0" name=""/>
        <dsp:cNvSpPr/>
      </dsp:nvSpPr>
      <dsp:spPr>
        <a:xfrm>
          <a:off x="2719211" y="-339258"/>
          <a:ext cx="5433904" cy="2554830"/>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How significantly did the transition to remote learning and social isolation during the COVID-19 pandemic impact the mental health of college students, including aspects such as anxiety, depression, and feelings of loneliness? </a:t>
          </a:r>
        </a:p>
      </dsp:txBody>
      <dsp:txXfrm>
        <a:off x="4077687" y="-339258"/>
        <a:ext cx="2716952" cy="2107735"/>
      </dsp:txXfrm>
    </dsp:sp>
    <dsp:sp modelId="{9FD355B2-0E9C-44C3-81F3-1D8D899EED29}">
      <dsp:nvSpPr>
        <dsp:cNvPr id="0" name=""/>
        <dsp:cNvSpPr/>
      </dsp:nvSpPr>
      <dsp:spPr>
        <a:xfrm rot="7200000">
          <a:off x="5311368" y="1205998"/>
          <a:ext cx="2571595" cy="3298521"/>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How did existing demographic factors, such as gender, race/ethnicity, and socioeconomic status, along with individual coping mechanisms, influence the mental health effects of the COVID-19 pandemic on college students</a:t>
          </a:r>
          <a:r>
            <a:rPr lang="en-US" sz="1200" kern="1200" dirty="0"/>
            <a:t>? </a:t>
          </a:r>
        </a:p>
      </dsp:txBody>
      <dsp:txXfrm rot="-5400000">
        <a:off x="5367788" y="2324867"/>
        <a:ext cx="2848492" cy="1285797"/>
      </dsp:txXfrm>
    </dsp:sp>
    <dsp:sp modelId="{ECF221C1-A102-4A05-9843-E9449EE32A93}">
      <dsp:nvSpPr>
        <dsp:cNvPr id="0" name=""/>
        <dsp:cNvSpPr/>
      </dsp:nvSpPr>
      <dsp:spPr>
        <a:xfrm rot="14400000">
          <a:off x="2448509" y="1581428"/>
          <a:ext cx="3613998" cy="2547662"/>
        </a:xfrm>
        <a:prstGeom prst="downArrow">
          <a:avLst>
            <a:gd name="adj1" fmla="val 50000"/>
            <a:gd name="adj2" fmla="val 35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What were the main obstacles to accessing mental health services for college students during the pandemic, and how did the growth of telehealth influence patterns of service use and outcomes</a:t>
          </a:r>
          <a:r>
            <a:rPr lang="en-US" sz="1100" kern="1200" dirty="0"/>
            <a:t>? </a:t>
          </a:r>
        </a:p>
      </dsp:txBody>
      <dsp:txXfrm rot="5400000">
        <a:off x="3011542" y="2063219"/>
        <a:ext cx="2101821" cy="1806999"/>
      </dsp:txXfrm>
    </dsp:sp>
  </dsp:spTree>
</dsp:drawing>
</file>

<file path=ppt/diagrams/layout1.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10/30/2025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3861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10/30/2025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97915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10/30/2025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5338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10/30/2025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66837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10/30/2025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44966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10/30/2025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60621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10/30/2025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0952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10/30/2025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49681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10/30/2025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20983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10/30/2025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47965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10/30/2025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88808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10/30/2025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8D5ADA4-335A-B36E-83E3-83BF317CFE0D}"/>
              </a:ext>
            </a:extLst>
          </p:cNvPr>
          <p:cNvSpPr txBox="1"/>
          <p:nvPr userDrawn="1">
            <p:extLst>
              <p:ext uri="{1162E1C5-73C7-4A58-AE30-91384D911F3F}">
                <p184:classification xmlns:p184="http://schemas.microsoft.com/office/powerpoint/2018/4/main" val="ftr"/>
              </p:ext>
            </p:extLst>
          </p:nvPr>
        </p:nvSpPr>
        <p:spPr>
          <a:xfrm>
            <a:off x="63500" y="6642100"/>
            <a:ext cx="1033463" cy="152400"/>
          </a:xfrm>
          <a:prstGeom prst="rect">
            <a:avLst/>
          </a:prstGeom>
        </p:spPr>
        <p:txBody>
          <a:bodyPr horzOverflow="overflow" lIns="0" tIns="0" rIns="0" bIns="0">
            <a:spAutoFit/>
          </a:bodyPr>
          <a:lstStyle/>
          <a:p>
            <a:pPr algn="l"/>
            <a:r>
              <a:rPr lang="en-US" sz="1000">
                <a:solidFill>
                  <a:srgbClr val="000000">
                    <a:alpha val="50000"/>
                  </a:srgbClr>
                </a:solidFill>
                <a:latin typeface="Calibri" panose="020F0502020204030204" pitchFamily="34" charset="0"/>
                <a:ea typeface="Calibri" panose="020F0502020204030204" pitchFamily="34" charset="0"/>
                <a:cs typeface="Calibri" panose="020F0502020204030204" pitchFamily="34" charset="0"/>
              </a:rPr>
              <a:t>Private Information</a:t>
            </a:r>
          </a:p>
        </p:txBody>
      </p:sp>
    </p:spTree>
    <p:extLst>
      <p:ext uri="{BB962C8B-B14F-4D97-AF65-F5344CB8AC3E}">
        <p14:creationId xmlns:p14="http://schemas.microsoft.com/office/powerpoint/2010/main" val="44041503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hyperlink" Target="https://doi.org/10.1080/07448481.2022.2059376" TargetMode="External"/><Relationship Id="rId2" Type="http://schemas.openxmlformats.org/officeDocument/2006/relationships/hyperlink" Target="https://doi.org/10.1051/e3sconf/202127310036"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AAB91-879E-A722-C494-1FEE2EBB8B68}"/>
              </a:ext>
            </a:extLst>
          </p:cNvPr>
          <p:cNvSpPr>
            <a:spLocks noGrp="1"/>
          </p:cNvSpPr>
          <p:nvPr>
            <p:ph type="ctrTitle"/>
          </p:nvPr>
        </p:nvSpPr>
        <p:spPr>
          <a:xfrm>
            <a:off x="704088" y="914400"/>
            <a:ext cx="6239599" cy="1307590"/>
          </a:xfrm>
        </p:spPr>
        <p:txBody>
          <a:bodyPr vert="horz" lIns="91440" tIns="45720" rIns="91440" bIns="45720" rtlCol="0" anchor="t">
            <a:normAutofit/>
          </a:bodyPr>
          <a:lstStyle/>
          <a:p>
            <a:pPr>
              <a:lnSpc>
                <a:spcPct val="90000"/>
              </a:lnSpc>
            </a:pPr>
            <a:r>
              <a:rPr lang="en-US" sz="2800" b="1" dirty="0">
                <a:latin typeface="Times New Roman" panose="02020603050405020304" pitchFamily="18" charset="0"/>
                <a:cs typeface="Times New Roman" panose="02020603050405020304" pitchFamily="18" charset="0"/>
              </a:rPr>
              <a:t>The Impact of COVID-19 Pandemic on Mental Health Among College Students</a:t>
            </a:r>
          </a:p>
        </p:txBody>
      </p:sp>
      <p:cxnSp>
        <p:nvCxnSpPr>
          <p:cNvPr id="15" name="Straight Connector 14">
            <a:extLst>
              <a:ext uri="{FF2B5EF4-FFF2-40B4-BE49-F238E27FC236}">
                <a16:creationId xmlns:a16="http://schemas.microsoft.com/office/drawing/2014/main" id="{3815BE95-1337-20E2-B2EF-5DA486F72F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A73EBB35-D139-BC5B-7D6E-0B8A33548A42}"/>
              </a:ext>
            </a:extLst>
          </p:cNvPr>
          <p:cNvSpPr>
            <a:spLocks noGrp="1"/>
          </p:cNvSpPr>
          <p:nvPr>
            <p:ph type="subTitle" idx="1"/>
          </p:nvPr>
        </p:nvSpPr>
        <p:spPr>
          <a:xfrm>
            <a:off x="704088" y="2221992"/>
            <a:ext cx="6239599" cy="3941064"/>
          </a:xfrm>
        </p:spPr>
        <p:txBody>
          <a:bodyPr vert="horz" lIns="91440" tIns="45720" rIns="91440" bIns="45720" rtlCol="0">
            <a:normAutofit/>
          </a:bodyPr>
          <a:lstStyle/>
          <a:p>
            <a:pPr indent="-22860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Module5-Audiovisual Presentation – Research Proposal</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Huyen Nguyen</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American College of Education</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RES 5303</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Dr. Winans</a:t>
            </a:r>
          </a:p>
          <a:p>
            <a:pPr indent="-22860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Nov 02</a:t>
            </a:r>
            <a:r>
              <a:rPr lang="en-US" baseline="30000" dirty="0">
                <a:latin typeface="Times New Roman" panose="02020603050405020304" pitchFamily="18" charset="0"/>
                <a:cs typeface="Times New Roman" panose="02020603050405020304" pitchFamily="18" charset="0"/>
              </a:rPr>
              <a:t>nd</a:t>
            </a:r>
            <a:r>
              <a:rPr lang="en-US" dirty="0">
                <a:latin typeface="Times New Roman" panose="02020603050405020304" pitchFamily="18" charset="0"/>
                <a:cs typeface="Times New Roman" panose="02020603050405020304" pitchFamily="18" charset="0"/>
              </a:rPr>
              <a:t>, 2025</a:t>
            </a:r>
          </a:p>
        </p:txBody>
      </p:sp>
      <p:pic>
        <p:nvPicPr>
          <p:cNvPr id="4" name="Picture 3">
            <a:extLst>
              <a:ext uri="{FF2B5EF4-FFF2-40B4-BE49-F238E27FC236}">
                <a16:creationId xmlns:a16="http://schemas.microsoft.com/office/drawing/2014/main" id="{0E75D3A4-89E4-E35C-AAF3-BE84A572A988}"/>
              </a:ext>
            </a:extLst>
          </p:cNvPr>
          <p:cNvPicPr>
            <a:picLocks noChangeAspect="1"/>
          </p:cNvPicPr>
          <p:nvPr/>
        </p:nvPicPr>
        <p:blipFill>
          <a:blip r:embed="rId2"/>
          <a:srcRect l="28797" r="30883"/>
          <a:stretch>
            <a:fillRect/>
          </a:stretch>
        </p:blipFill>
        <p:spPr>
          <a:xfrm>
            <a:off x="7583424" y="10"/>
            <a:ext cx="4608576" cy="6857990"/>
          </a:xfrm>
          <a:prstGeom prst="rect">
            <a:avLst/>
          </a:prstGeom>
        </p:spPr>
      </p:pic>
    </p:spTree>
    <p:extLst>
      <p:ext uri="{BB962C8B-B14F-4D97-AF65-F5344CB8AC3E}">
        <p14:creationId xmlns:p14="http://schemas.microsoft.com/office/powerpoint/2010/main" val="7769159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109330-2626-B677-2181-56BB610BA8DE}"/>
              </a:ext>
            </a:extLst>
          </p:cNvPr>
          <p:cNvSpPr>
            <a:spLocks noGrp="1"/>
          </p:cNvSpPr>
          <p:nvPr>
            <p:ph type="ctrTitle"/>
          </p:nvPr>
        </p:nvSpPr>
        <p:spPr>
          <a:xfrm>
            <a:off x="700088" y="728744"/>
            <a:ext cx="6400800" cy="949308"/>
          </a:xfrm>
        </p:spPr>
        <p:txBody>
          <a:bodyPr vert="horz" lIns="91440" tIns="45720" rIns="91440" bIns="45720" rtlCol="0" anchor="t">
            <a:noAutofit/>
          </a:bodyPr>
          <a:lstStyle/>
          <a:p>
            <a:pPr>
              <a:lnSpc>
                <a:spcPct val="90000"/>
              </a:lnSpc>
            </a:pPr>
            <a:r>
              <a:rPr lang="en-US" sz="3200" b="1" dirty="0">
                <a:latin typeface="Times New Roman" panose="02020603050405020304" pitchFamily="18" charset="0"/>
                <a:cs typeface="Times New Roman" panose="02020603050405020304" pitchFamily="18" charset="0"/>
              </a:rPr>
              <a:t>Introduction and areas of professional concern</a:t>
            </a:r>
          </a:p>
        </p:txBody>
      </p:sp>
      <p:cxnSp>
        <p:nvCxnSpPr>
          <p:cNvPr id="16" name="Straight Connector 15">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4B9959A1-3B11-E2AA-4D52-62BADB937017}"/>
              </a:ext>
            </a:extLst>
          </p:cNvPr>
          <p:cNvSpPr>
            <a:spLocks noGrp="1"/>
          </p:cNvSpPr>
          <p:nvPr>
            <p:ph type="subTitle" idx="1"/>
          </p:nvPr>
        </p:nvSpPr>
        <p:spPr>
          <a:xfrm>
            <a:off x="700088" y="1858945"/>
            <a:ext cx="6400800" cy="4102943"/>
          </a:xfrm>
        </p:spPr>
        <p:txBody>
          <a:bodyPr vert="horz" lIns="91440" tIns="45720" rIns="91440" bIns="45720" rtlCol="0">
            <a:normAutofit/>
          </a:bodyPr>
          <a:lstStyle/>
          <a:p>
            <a:pPr indent="-2286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The COVID-19 pandemic triggered unprecedented disruptions to daily life.</a:t>
            </a:r>
          </a:p>
          <a:p>
            <a:pPr indent="-2286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For college students, this meant a sudden shift to online learning, social isolation, and financial uncertainty.</a:t>
            </a:r>
          </a:p>
          <a:p>
            <a:pPr indent="-2286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Mental health among this population was already a concern pre-pandemic, but these new stressors exacerbated existing issues.</a:t>
            </a:r>
          </a:p>
          <a:p>
            <a:pPr indent="-228600">
              <a:buFont typeface="Arial" panose="020B0604020202020204" pitchFamily="34" charset="0"/>
              <a:buChar char="•"/>
            </a:pPr>
            <a:r>
              <a:rPr lang="en-US" sz="1900" dirty="0">
                <a:latin typeface="Times New Roman" panose="02020603050405020304" pitchFamily="18" charset="0"/>
                <a:cs typeface="Times New Roman" panose="02020603050405020304" pitchFamily="18" charset="0"/>
              </a:rPr>
              <a:t>As a healthcare professional, the concern lies in understanding these impacts to develop effective interventions and support systems for student populations.</a:t>
            </a:r>
          </a:p>
          <a:p>
            <a:pPr indent="-228600">
              <a:buFont typeface="Arial" panose="020B0604020202020204" pitchFamily="34" charset="0"/>
              <a:buChar char="•"/>
            </a:pPr>
            <a:endParaRPr lang="en-US" sz="1900" dirty="0"/>
          </a:p>
        </p:txBody>
      </p:sp>
      <p:pic>
        <p:nvPicPr>
          <p:cNvPr id="7" name="Graphic 6" descr="Stethoscope">
            <a:extLst>
              <a:ext uri="{FF2B5EF4-FFF2-40B4-BE49-F238E27FC236}">
                <a16:creationId xmlns:a16="http://schemas.microsoft.com/office/drawing/2014/main" id="{40F5F2D7-BB3D-B307-C709-4171D61DA28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8" name="Straight Connector 17">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0322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1E0EB7-E924-834A-E044-76A07A7227B3}"/>
              </a:ext>
            </a:extLst>
          </p:cNvPr>
          <p:cNvSpPr>
            <a:spLocks noGrp="1"/>
          </p:cNvSpPr>
          <p:nvPr>
            <p:ph type="title"/>
          </p:nvPr>
        </p:nvSpPr>
        <p:spPr>
          <a:xfrm>
            <a:off x="700088" y="909637"/>
            <a:ext cx="6400800" cy="1307592"/>
          </a:xfrm>
        </p:spPr>
        <p:txBody>
          <a:bodyPr>
            <a:normAutofit/>
          </a:bodyPr>
          <a:lstStyle/>
          <a:p>
            <a:r>
              <a:rPr lang="en-US" b="1" dirty="0">
                <a:latin typeface="Times New Roman" panose="02020603050405020304" pitchFamily="18" charset="0"/>
                <a:cs typeface="Times New Roman" panose="02020603050405020304" pitchFamily="18" charset="0"/>
              </a:rPr>
              <a:t>Problem statement</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A6C96A7-35F1-EC57-6538-794447246580}"/>
              </a:ext>
            </a:extLst>
          </p:cNvPr>
          <p:cNvSpPr>
            <a:spLocks noGrp="1"/>
          </p:cNvSpPr>
          <p:nvPr>
            <p:ph idx="1"/>
          </p:nvPr>
        </p:nvSpPr>
        <p:spPr>
          <a:xfrm>
            <a:off x="700088" y="2221992"/>
            <a:ext cx="6400800" cy="3739896"/>
          </a:xfrm>
        </p:spPr>
        <p:txBody>
          <a:bodyPr>
            <a:normAutofit/>
          </a:bodyPr>
          <a:lstStyle/>
          <a:p>
            <a:pPr>
              <a:lnSpc>
                <a:spcPct val="100000"/>
              </a:lnSpc>
            </a:pPr>
            <a:r>
              <a:rPr lang="en-US" sz="1800" dirty="0">
                <a:latin typeface="Times New Roman" panose="02020603050405020304" pitchFamily="18" charset="0"/>
                <a:cs typeface="Times New Roman" panose="02020603050405020304" pitchFamily="18" charset="0"/>
              </a:rPr>
              <a:t>The transition to remote learning and social isolation during the COVID-19 pandemic significantly increased the prevalence and severity of mental health issues, such as anxiety and depression, among undergraduate college students.</a:t>
            </a:r>
          </a:p>
          <a:p>
            <a:pPr>
              <a:lnSpc>
                <a:spcPct val="100000"/>
              </a:lnSpc>
            </a:pPr>
            <a:r>
              <a:rPr lang="en-US" sz="1800" dirty="0">
                <a:latin typeface="Times New Roman" panose="02020603050405020304" pitchFamily="18" charset="0"/>
                <a:cs typeface="Times New Roman" panose="02020603050405020304" pitchFamily="18" charset="0"/>
              </a:rPr>
              <a:t>These effects were disproportionately severe among marginalized student populations, including females, LGBTQ+ individuals, and students from ethnic and racial minorities, who face intersectional stressors that amplify psychological distress and hinder access to support</a:t>
            </a:r>
            <a:r>
              <a:rPr lang="en-US" sz="1700" dirty="0">
                <a:latin typeface="Times New Roman" panose="02020603050405020304" pitchFamily="18" charset="0"/>
                <a:cs typeface="Times New Roman" panose="02020603050405020304" pitchFamily="18" charset="0"/>
              </a:rPr>
              <a:t>.</a:t>
            </a:r>
          </a:p>
          <a:p>
            <a:pPr>
              <a:lnSpc>
                <a:spcPct val="100000"/>
              </a:lnSpc>
            </a:pPr>
            <a:r>
              <a:rPr lang="en-US" sz="1800" dirty="0">
                <a:latin typeface="Times New Roman" panose="02020603050405020304" pitchFamily="18" charset="0"/>
                <a:cs typeface="Times New Roman" panose="02020603050405020304" pitchFamily="18" charset="0"/>
              </a:rPr>
              <a:t>Many students, especially those from high-risk groups, did not receive sufficient mental health support due to barriers that were worsened by the pandemic.</a:t>
            </a:r>
          </a:p>
        </p:txBody>
      </p:sp>
      <p:pic>
        <p:nvPicPr>
          <p:cNvPr id="7" name="Graphic 6" descr="Health">
            <a:extLst>
              <a:ext uri="{FF2B5EF4-FFF2-40B4-BE49-F238E27FC236}">
                <a16:creationId xmlns:a16="http://schemas.microsoft.com/office/drawing/2014/main" id="{E825FE34-E59C-B2CB-630A-96AE648A32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734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2AB95-138E-15F3-D658-3F9522A35D5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Research Questions</a:t>
            </a:r>
          </a:p>
        </p:txBody>
      </p:sp>
      <p:graphicFrame>
        <p:nvGraphicFramePr>
          <p:cNvPr id="5" name="Content Placeholder 2">
            <a:extLst>
              <a:ext uri="{FF2B5EF4-FFF2-40B4-BE49-F238E27FC236}">
                <a16:creationId xmlns:a16="http://schemas.microsoft.com/office/drawing/2014/main" id="{EDC5E7A4-B131-C8C3-251E-CE42B52B064C}"/>
              </a:ext>
            </a:extLst>
          </p:cNvPr>
          <p:cNvGraphicFramePr>
            <a:graphicFrameLocks noGrp="1"/>
          </p:cNvGraphicFramePr>
          <p:nvPr>
            <p:ph idx="1"/>
            <p:extLst>
              <p:ext uri="{D42A27DB-BD31-4B8C-83A1-F6EECF244321}">
                <p14:modId xmlns:p14="http://schemas.microsoft.com/office/powerpoint/2010/main" val="2565391311"/>
              </p:ext>
            </p:extLst>
          </p:nvPr>
        </p:nvGraphicFramePr>
        <p:xfrm>
          <a:off x="800100" y="1907458"/>
          <a:ext cx="10591800" cy="40544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8424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4F55FC-A81C-E87E-F597-6AE8CFA7F489}"/>
              </a:ext>
            </a:extLst>
          </p:cNvPr>
          <p:cNvSpPr>
            <a:spLocks noGrp="1"/>
          </p:cNvSpPr>
          <p:nvPr>
            <p:ph type="title"/>
          </p:nvPr>
        </p:nvSpPr>
        <p:spPr>
          <a:xfrm>
            <a:off x="700088" y="909637"/>
            <a:ext cx="6400800" cy="1307592"/>
          </a:xfrm>
        </p:spPr>
        <p:txBody>
          <a:bodyPr>
            <a:normAutofit/>
          </a:bodyPr>
          <a:lstStyle/>
          <a:p>
            <a:r>
              <a:rPr lang="en-US" sz="3600" b="1" dirty="0">
                <a:latin typeface="Times New Roman" panose="02020603050405020304" pitchFamily="18" charset="0"/>
                <a:cs typeface="Times New Roman" panose="02020603050405020304" pitchFamily="18" charset="0"/>
              </a:rPr>
              <a:t>Literature Review</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4F47928-70A6-C218-C9F8-1DC3B1E4C12B}"/>
              </a:ext>
            </a:extLst>
          </p:cNvPr>
          <p:cNvSpPr>
            <a:spLocks noGrp="1"/>
          </p:cNvSpPr>
          <p:nvPr>
            <p:ph idx="1"/>
          </p:nvPr>
        </p:nvSpPr>
        <p:spPr>
          <a:xfrm>
            <a:off x="652924" y="1773569"/>
            <a:ext cx="6400800" cy="4034763"/>
          </a:xfrm>
        </p:spPr>
        <p:txBody>
          <a:bodyPr>
            <a:normAutofit/>
          </a:bodyPr>
          <a:lstStyle/>
          <a:p>
            <a:pPr>
              <a:lnSpc>
                <a:spcPct val="100000"/>
              </a:lnSpc>
            </a:pPr>
            <a:r>
              <a:rPr lang="en-US" sz="1100" b="1" dirty="0">
                <a:latin typeface="Times New Roman" panose="02020603050405020304" pitchFamily="18" charset="0"/>
                <a:cs typeface="Times New Roman" panose="02020603050405020304" pitchFamily="18" charset="0"/>
              </a:rPr>
              <a:t>Increased Distress:</a:t>
            </a:r>
            <a:r>
              <a:rPr lang="en-US" sz="1100" dirty="0">
                <a:latin typeface="Times New Roman" panose="02020603050405020304" pitchFamily="18" charset="0"/>
                <a:cs typeface="Times New Roman" panose="02020603050405020304" pitchFamily="18" charset="0"/>
              </a:rPr>
              <a:t> Studies consistently show a significant increase in reported anxiety and depression symptoms among college students during COVID-19 (43% of students experienced high anxiety, and 52% reported high depression levels during remote learning (</a:t>
            </a:r>
            <a:r>
              <a:rPr lang="en-US" sz="1100" dirty="0" err="1">
                <a:latin typeface="Times New Roman" panose="02020603050405020304" pitchFamily="18" charset="0"/>
                <a:cs typeface="Times New Roman" panose="02020603050405020304" pitchFamily="18" charset="0"/>
              </a:rPr>
              <a:t>Lyubetsky</a:t>
            </a:r>
            <a:r>
              <a:rPr lang="en-US" sz="1100" dirty="0">
                <a:latin typeface="Times New Roman" panose="02020603050405020304" pitchFamily="18" charset="0"/>
                <a:cs typeface="Times New Roman" panose="02020603050405020304" pitchFamily="18" charset="0"/>
              </a:rPr>
              <a:t> et al., 2021). </a:t>
            </a:r>
          </a:p>
          <a:p>
            <a:pPr>
              <a:lnSpc>
                <a:spcPct val="100000"/>
              </a:lnSpc>
            </a:pPr>
            <a:r>
              <a:rPr lang="en-US" sz="1100" b="1" dirty="0">
                <a:latin typeface="Times New Roman" panose="02020603050405020304" pitchFamily="18" charset="0"/>
                <a:cs typeface="Times New Roman" panose="02020603050405020304" pitchFamily="18" charset="0"/>
              </a:rPr>
              <a:t>Social Isolation:</a:t>
            </a:r>
            <a:r>
              <a:rPr lang="en-US" sz="1100" dirty="0">
                <a:latin typeface="Times New Roman" panose="02020603050405020304" pitchFamily="18" charset="0"/>
                <a:cs typeface="Times New Roman" panose="02020603050405020304" pitchFamily="18" charset="0"/>
              </a:rPr>
              <a:t> Reduced social interaction and disruption of campus life were key contributors to loneliness and psychological distress (nearly 60% of students reported that e-learning made them feel isolated from friends and acquaintances (Rutkowska et al., 2022).</a:t>
            </a:r>
          </a:p>
          <a:p>
            <a:pPr>
              <a:lnSpc>
                <a:spcPct val="100000"/>
              </a:lnSpc>
            </a:pPr>
            <a:r>
              <a:rPr lang="en-US" sz="1100" b="1" dirty="0">
                <a:latin typeface="Times New Roman" panose="02020603050405020304" pitchFamily="18" charset="0"/>
                <a:cs typeface="Times New Roman" panose="02020603050405020304" pitchFamily="18" charset="0"/>
              </a:rPr>
              <a:t>Academic Stressors:</a:t>
            </a:r>
            <a:r>
              <a:rPr lang="en-US" sz="1100" dirty="0">
                <a:latin typeface="Times New Roman" panose="02020603050405020304" pitchFamily="18" charset="0"/>
                <a:cs typeface="Times New Roman" panose="02020603050405020304" pitchFamily="18" charset="0"/>
              </a:rPr>
              <a:t> Concerns over academic performance and the difficulty of concentrating in an online environment were major stress factors (Satisfaction with academic performance was notably greater during in-person learning compared to remote learning 62.34% versus 13.64% (</a:t>
            </a:r>
            <a:r>
              <a:rPr lang="en-US" sz="1100" dirty="0" err="1">
                <a:latin typeface="Times New Roman" panose="02020603050405020304" pitchFamily="18" charset="0"/>
                <a:cs typeface="Times New Roman" panose="02020603050405020304" pitchFamily="18" charset="0"/>
              </a:rPr>
              <a:t>Lyubetsky</a:t>
            </a:r>
            <a:r>
              <a:rPr lang="en-US" sz="1100" dirty="0">
                <a:latin typeface="Times New Roman" panose="02020603050405020304" pitchFamily="18" charset="0"/>
                <a:cs typeface="Times New Roman" panose="02020603050405020304" pitchFamily="18" charset="0"/>
              </a:rPr>
              <a:t> et al., 2021).</a:t>
            </a:r>
          </a:p>
          <a:p>
            <a:pPr>
              <a:lnSpc>
                <a:spcPct val="100000"/>
              </a:lnSpc>
            </a:pPr>
            <a:r>
              <a:rPr lang="en-US" sz="1100" b="1" dirty="0">
                <a:latin typeface="Times New Roman" panose="02020603050405020304" pitchFamily="18" charset="0"/>
                <a:cs typeface="Times New Roman" panose="02020603050405020304" pitchFamily="18" charset="0"/>
              </a:rPr>
              <a:t>Disparate Impacts:</a:t>
            </a:r>
            <a:r>
              <a:rPr lang="en-US" sz="1100" dirty="0">
                <a:latin typeface="Times New Roman" panose="02020603050405020304" pitchFamily="18" charset="0"/>
                <a:cs typeface="Times New Roman" panose="02020603050405020304" pitchFamily="18" charset="0"/>
              </a:rPr>
              <a:t> Research indicates that some minority groups, including female,  LGBTQ+ students, and international students faced disproportionately higher mental health burdens (Xiong et al., 2022).</a:t>
            </a:r>
          </a:p>
          <a:p>
            <a:pPr>
              <a:lnSpc>
                <a:spcPct val="100000"/>
              </a:lnSpc>
            </a:pPr>
            <a:r>
              <a:rPr lang="en-US" sz="1100" b="1" dirty="0">
                <a:latin typeface="Times New Roman" panose="02020603050405020304" pitchFamily="18" charset="0"/>
                <a:cs typeface="Times New Roman" panose="02020603050405020304" pitchFamily="18" charset="0"/>
              </a:rPr>
              <a:t>Coping Mechanisms:</a:t>
            </a:r>
            <a:r>
              <a:rPr lang="en-US" sz="1100" dirty="0">
                <a:latin typeface="Times New Roman" panose="02020603050405020304" pitchFamily="18" charset="0"/>
                <a:cs typeface="Times New Roman" panose="02020603050405020304" pitchFamily="18" charset="0"/>
              </a:rPr>
              <a:t> The effectiveness of coping varied, with positive strategies like planning and acceptance being beneficial, while negative ones were associated with higher stress (Chen et al., 2023)</a:t>
            </a:r>
          </a:p>
          <a:p>
            <a:pPr>
              <a:lnSpc>
                <a:spcPct val="100000"/>
              </a:lnSpc>
            </a:pPr>
            <a:r>
              <a:rPr lang="en-US" sz="1100" b="1" dirty="0">
                <a:latin typeface="Times New Roman" panose="02020603050405020304" pitchFamily="18" charset="0"/>
                <a:cs typeface="Times New Roman" panose="02020603050405020304" pitchFamily="18" charset="0"/>
              </a:rPr>
              <a:t>Access to Mental Health Services</a:t>
            </a:r>
            <a:r>
              <a:rPr lang="en-US" sz="1100" dirty="0">
                <a:latin typeface="Times New Roman" panose="02020603050405020304" pitchFamily="18" charset="0"/>
                <a:cs typeface="Times New Roman" panose="02020603050405020304" pitchFamily="18" charset="0"/>
              </a:rPr>
              <a:t>: During the pandemic, college students faced various challenges in accessing mental health services, including financial constraints, a lack of awareness about available resources, and stigma. In response to the rising demand for support, universities transitioned from traditional in-person counseling to telehealth. Nonetheless, students encountered several challenges with telehealth, such as technological difficulties, privacy concerns—especially for those living with family or roommates—and a perceived decrease in the quality of the therapeutic relationship (</a:t>
            </a:r>
            <a:r>
              <a:rPr lang="en-US" sz="1100" dirty="0" err="1">
                <a:latin typeface="Times New Roman" panose="02020603050405020304" pitchFamily="18" charset="0"/>
                <a:cs typeface="Times New Roman" panose="02020603050405020304" pitchFamily="18" charset="0"/>
              </a:rPr>
              <a:t>Aduvia</a:t>
            </a:r>
            <a:r>
              <a:rPr lang="en-US" sz="1100" dirty="0">
                <a:latin typeface="Times New Roman" panose="02020603050405020304" pitchFamily="18" charset="0"/>
                <a:cs typeface="Times New Roman" panose="02020603050405020304" pitchFamily="18" charset="0"/>
              </a:rPr>
              <a:t> at el., 2023</a:t>
            </a:r>
            <a:r>
              <a:rPr lang="en-US" sz="1050" dirty="0">
                <a:latin typeface="Times New Roman" panose="02020603050405020304" pitchFamily="18" charset="0"/>
                <a:cs typeface="Times New Roman" panose="02020603050405020304" pitchFamily="18" charset="0"/>
              </a:rPr>
              <a:t>).</a:t>
            </a:r>
          </a:p>
        </p:txBody>
      </p:sp>
      <p:pic>
        <p:nvPicPr>
          <p:cNvPr id="7" name="Graphic 6" descr="Crying Face with No Fill">
            <a:extLst>
              <a:ext uri="{FF2B5EF4-FFF2-40B4-BE49-F238E27FC236}">
                <a16:creationId xmlns:a16="http://schemas.microsoft.com/office/drawing/2014/main" id="{740D9F0D-E7A1-6185-961B-77CF0E3048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95711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FE024-992A-5E02-15C3-752FCCADD8E7}"/>
              </a:ext>
            </a:extLst>
          </p:cNvPr>
          <p:cNvSpPr>
            <a:spLocks noGrp="1"/>
          </p:cNvSpPr>
          <p:nvPr>
            <p:ph type="title"/>
          </p:nvPr>
        </p:nvSpPr>
        <p:spPr>
          <a:xfrm>
            <a:off x="700088" y="909637"/>
            <a:ext cx="6400800" cy="1307592"/>
          </a:xfrm>
        </p:spPr>
        <p:txBody>
          <a:bodyPr>
            <a:normAutofit/>
          </a:bodyPr>
          <a:lstStyle/>
          <a:p>
            <a:pPr>
              <a:lnSpc>
                <a:spcPct val="90000"/>
              </a:lnSpc>
            </a:pPr>
            <a:r>
              <a:rPr lang="en-US" b="1" dirty="0">
                <a:latin typeface="Times New Roman" panose="02020603050405020304" pitchFamily="18" charset="0"/>
                <a:cs typeface="Times New Roman" panose="02020603050405020304" pitchFamily="18" charset="0"/>
              </a:rPr>
              <a:t>Research</a:t>
            </a:r>
            <a:r>
              <a:rPr lang="en-US" b="1" dirty="0"/>
              <a:t> Methodology and design</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2A675C3-DBCF-4FAB-79C0-D5842AB5A29E}"/>
              </a:ext>
            </a:extLst>
          </p:cNvPr>
          <p:cNvSpPr>
            <a:spLocks noGrp="1"/>
          </p:cNvSpPr>
          <p:nvPr>
            <p:ph idx="1"/>
          </p:nvPr>
        </p:nvSpPr>
        <p:spPr>
          <a:xfrm>
            <a:off x="700088" y="2221992"/>
            <a:ext cx="6400800" cy="3739896"/>
          </a:xfrm>
        </p:spPr>
        <p:txBody>
          <a:bodyPr>
            <a:normAutofit/>
          </a:bodyPr>
          <a:lstStyle/>
          <a:p>
            <a:pPr>
              <a:lnSpc>
                <a:spcPct val="100000"/>
              </a:lnSpc>
            </a:pPr>
            <a:endParaRPr lang="en-US" sz="1500" dirty="0">
              <a:latin typeface="Times New Roman" panose="02020603050405020304" pitchFamily="18" charset="0"/>
              <a:cs typeface="Times New Roman" panose="02020603050405020304" pitchFamily="18" charset="0"/>
            </a:endParaRPr>
          </a:p>
          <a:p>
            <a:pPr>
              <a:lnSpc>
                <a:spcPct val="100000"/>
              </a:lnSpc>
            </a:pPr>
            <a:r>
              <a:rPr lang="en-US" sz="1500" dirty="0">
                <a:latin typeface="Times New Roman" panose="02020603050405020304" pitchFamily="18" charset="0"/>
                <a:cs typeface="Times New Roman" panose="02020603050405020304" pitchFamily="18" charset="0"/>
              </a:rPr>
              <a:t>A mixed-methods approach with a sequential explanatory mixed-methods design (</a:t>
            </a:r>
            <a:r>
              <a:rPr lang="en-US" sz="1500" dirty="0" err="1">
                <a:latin typeface="Times New Roman" panose="02020603050405020304" pitchFamily="18" charset="0"/>
                <a:cs typeface="Times New Roman" panose="02020603050405020304" pitchFamily="18" charset="0"/>
              </a:rPr>
              <a:t>QUAN→qual</a:t>
            </a:r>
            <a:r>
              <a:rPr lang="en-US" sz="1500" dirty="0">
                <a:latin typeface="Times New Roman" panose="02020603050405020304" pitchFamily="18" charset="0"/>
                <a:cs typeface="Times New Roman" panose="02020603050405020304" pitchFamily="18" charset="0"/>
              </a:rPr>
              <a:t>) is employed to obtain both broad statistical data and in-depth personal insights.</a:t>
            </a:r>
          </a:p>
          <a:p>
            <a:pPr lvl="1">
              <a:lnSpc>
                <a:spcPct val="100000"/>
              </a:lnSpc>
            </a:pPr>
            <a:r>
              <a:rPr lang="en-US" sz="1500" b="1" dirty="0">
                <a:latin typeface="Times New Roman" panose="02020603050405020304" pitchFamily="18" charset="0"/>
                <a:cs typeface="Times New Roman" panose="02020603050405020304" pitchFamily="18" charset="0"/>
              </a:rPr>
              <a:t>Quantitative:</a:t>
            </a:r>
            <a:r>
              <a:rPr lang="en-US" sz="1500" dirty="0">
                <a:latin typeface="Times New Roman" panose="02020603050405020304" pitchFamily="18" charset="0"/>
                <a:cs typeface="Times New Roman" panose="02020603050405020304" pitchFamily="18" charset="0"/>
              </a:rPr>
              <a:t> A survey-based approach using validated mental health scales (e.g., GAD-7 for anxiety, PHQ-9 for depression) to measure prevalence and severity.</a:t>
            </a:r>
          </a:p>
          <a:p>
            <a:pPr lvl="1">
              <a:lnSpc>
                <a:spcPct val="100000"/>
              </a:lnSpc>
            </a:pPr>
            <a:r>
              <a:rPr lang="en-US" sz="1500" b="1" dirty="0">
                <a:latin typeface="Times New Roman" panose="02020603050405020304" pitchFamily="18" charset="0"/>
                <a:cs typeface="Times New Roman" panose="02020603050405020304" pitchFamily="18" charset="0"/>
              </a:rPr>
              <a:t>Qualitative:</a:t>
            </a:r>
            <a:r>
              <a:rPr lang="en-US" sz="1500" dirty="0">
                <a:latin typeface="Times New Roman" panose="02020603050405020304" pitchFamily="18" charset="0"/>
                <a:cs typeface="Times New Roman" panose="02020603050405020304" pitchFamily="18" charset="0"/>
              </a:rPr>
              <a:t> Semi-structured interviews with a subset of students to capture the personal lived experiences behind the statistics.</a:t>
            </a:r>
          </a:p>
          <a:p>
            <a:pPr>
              <a:lnSpc>
                <a:spcPct val="100000"/>
              </a:lnSpc>
            </a:pPr>
            <a:r>
              <a:rPr lang="en-US" sz="1500" b="1" dirty="0">
                <a:latin typeface="Times New Roman" panose="02020603050405020304" pitchFamily="18" charset="0"/>
                <a:cs typeface="Times New Roman" panose="02020603050405020304" pitchFamily="18" charset="0"/>
              </a:rPr>
              <a:t>Rationale:</a:t>
            </a:r>
            <a:r>
              <a:rPr lang="en-US" sz="1500" dirty="0">
                <a:latin typeface="Times New Roman" panose="02020603050405020304" pitchFamily="18" charset="0"/>
                <a:cs typeface="Times New Roman" panose="02020603050405020304" pitchFamily="18" charset="0"/>
              </a:rPr>
              <a:t> This design is most efficient for capturing student perspectives and prevalence of mental health issues immediately following the major disruptions of the pandemic, providing a clear snapshot of the residual impact</a:t>
            </a:r>
            <a:r>
              <a:rPr lang="en-US" sz="1500" dirty="0"/>
              <a:t>.</a:t>
            </a:r>
          </a:p>
          <a:p>
            <a:pPr>
              <a:lnSpc>
                <a:spcPct val="100000"/>
              </a:lnSpc>
            </a:pPr>
            <a:endParaRPr lang="en-US" sz="1500" dirty="0"/>
          </a:p>
        </p:txBody>
      </p:sp>
      <p:pic>
        <p:nvPicPr>
          <p:cNvPr id="7" name="Graphic 6" descr="Target Audience">
            <a:extLst>
              <a:ext uri="{FF2B5EF4-FFF2-40B4-BE49-F238E27FC236}">
                <a16:creationId xmlns:a16="http://schemas.microsoft.com/office/drawing/2014/main" id="{8B0A3A7F-45EA-183F-942A-DD82C0182D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715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9D7A9A-570F-E88B-3A1A-04977C8AF9C9}"/>
              </a:ext>
            </a:extLst>
          </p:cNvPr>
          <p:cNvSpPr>
            <a:spLocks noGrp="1"/>
          </p:cNvSpPr>
          <p:nvPr>
            <p:ph type="title"/>
          </p:nvPr>
        </p:nvSpPr>
        <p:spPr>
          <a:xfrm>
            <a:off x="700088" y="909637"/>
            <a:ext cx="6400800" cy="1307592"/>
          </a:xfrm>
        </p:spPr>
        <p:txBody>
          <a:bodyPr>
            <a:normAutofit/>
          </a:bodyPr>
          <a:lstStyle/>
          <a:p>
            <a:pPr>
              <a:lnSpc>
                <a:spcPct val="90000"/>
              </a:lnSpc>
            </a:pPr>
            <a:r>
              <a:rPr lang="en-US" dirty="0">
                <a:latin typeface="Times New Roman" panose="02020603050405020304" pitchFamily="18" charset="0"/>
                <a:cs typeface="Times New Roman" panose="02020603050405020304" pitchFamily="18" charset="0"/>
              </a:rPr>
              <a:t>Data collection and analysis</a:t>
            </a:r>
          </a:p>
        </p:txBody>
      </p:sp>
      <p:cxnSp>
        <p:nvCxnSpPr>
          <p:cNvPr id="12" name="Straight Connector 11">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C77A850-40C8-E71E-EE6A-F960E1DCDD98}"/>
              </a:ext>
            </a:extLst>
          </p:cNvPr>
          <p:cNvSpPr>
            <a:spLocks noGrp="1"/>
          </p:cNvSpPr>
          <p:nvPr>
            <p:ph idx="1"/>
          </p:nvPr>
        </p:nvSpPr>
        <p:spPr>
          <a:xfrm>
            <a:off x="700088" y="2221992"/>
            <a:ext cx="6400800" cy="3739896"/>
          </a:xfrm>
        </p:spPr>
        <p:txBody>
          <a:bodyPr>
            <a:noAutofit/>
          </a:bodyPr>
          <a:lstStyle/>
          <a:p>
            <a:pPr marL="0" indent="0">
              <a:lnSpc>
                <a:spcPct val="100000"/>
              </a:lnSpc>
              <a:buNone/>
            </a:pPr>
            <a:r>
              <a:rPr lang="en-US" sz="1200" b="1" dirty="0">
                <a:latin typeface="Times New Roman" panose="02020603050405020304" pitchFamily="18" charset="0"/>
                <a:cs typeface="Times New Roman" panose="02020603050405020304" pitchFamily="18" charset="0"/>
              </a:rPr>
              <a:t>Quantitative Data:</a:t>
            </a:r>
            <a:r>
              <a:rPr lang="en-US" sz="1200" dirty="0">
                <a:latin typeface="Times New Roman" panose="02020603050405020304" pitchFamily="18" charset="0"/>
                <a:cs typeface="Times New Roman" panose="02020603050405020304" pitchFamily="18" charset="0"/>
              </a:rPr>
              <a:t>  an online surveys were distributed via email or social media to a large and diverse sample of students at participated universities. </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Qualitative Data:</a:t>
            </a:r>
            <a:r>
              <a:rPr lang="en-US" sz="1200" dirty="0">
                <a:latin typeface="Times New Roman" panose="02020603050405020304" pitchFamily="18" charset="0"/>
                <a:cs typeface="Times New Roman" panose="02020603050405020304" pitchFamily="18" charset="0"/>
              </a:rPr>
              <a:t>  a smaller, targeted sample of students will take part in semi-structured interviews or focus groups</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b="1" dirty="0">
                <a:latin typeface="Times New Roman" panose="02020603050405020304" pitchFamily="18" charset="0"/>
                <a:cs typeface="Times New Roman" panose="02020603050405020304" pitchFamily="18" charset="0"/>
              </a:rPr>
              <a:t>Analysis:</a:t>
            </a:r>
            <a:r>
              <a:rPr lang="en-US" sz="1200" dirty="0">
                <a:latin typeface="Times New Roman" panose="02020603050405020304" pitchFamily="18" charset="0"/>
                <a:cs typeface="Times New Roman" panose="02020603050405020304" pitchFamily="18" charset="0"/>
              </a:rPr>
              <a:t>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1. Quantitative data collected from surveys will be analyzed using statistical techniques, including descriptive statistics (frequencies, means, and standard deviations will describe the demographic characteristics of the sample and the prevalence of reported mental health issues), inferential statistics (T-tests or ANOVA will be used to compare the differences in mean PHQ-9 and GAD-7 scores across different demographic groups or learning modalities). </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	2. Qualitative data will be analyzed through thematic analysis and a coding process. Thematic analysis will be used to identify, analyze, and report patterns within the interview data. The coding process will systematically code the interview transcripts to categorize specific ideas and concepts related to students’ experiences.</a:t>
            </a:r>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Finally, the qualitative themes will be integrated with the quantitative findings to provide a comprehensive interpretation of the study’s results.</a:t>
            </a:r>
            <a:br>
              <a:rPr lang="en-US" sz="1200" b="1"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p:txBody>
      </p:sp>
      <p:pic>
        <p:nvPicPr>
          <p:cNvPr id="7" name="Graphic 6" descr="Statistics">
            <a:extLst>
              <a:ext uri="{FF2B5EF4-FFF2-40B4-BE49-F238E27FC236}">
                <a16:creationId xmlns:a16="http://schemas.microsoft.com/office/drawing/2014/main" id="{453759AB-39F2-C089-BF8D-8FA1A4F3AA8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14" name="Straight Connector 13">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4715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2F0375-7052-770F-FC61-1C087AD7F961}"/>
              </a:ext>
            </a:extLst>
          </p:cNvPr>
          <p:cNvSpPr>
            <a:spLocks noGrp="1"/>
          </p:cNvSpPr>
          <p:nvPr>
            <p:ph type="title"/>
          </p:nvPr>
        </p:nvSpPr>
        <p:spPr>
          <a:xfrm>
            <a:off x="700088" y="909637"/>
            <a:ext cx="6400800" cy="1307592"/>
          </a:xfrm>
        </p:spPr>
        <p:txBody>
          <a:bodyPr vert="horz" lIns="91440" tIns="45720" rIns="91440" bIns="45720" rtlCol="0" anchor="t">
            <a:normAutofit/>
          </a:bodyPr>
          <a:lstStyle/>
          <a:p>
            <a:pPr>
              <a:lnSpc>
                <a:spcPct val="90000"/>
              </a:lnSpc>
            </a:pPr>
            <a:r>
              <a:rPr lang="en-US" b="1" dirty="0">
                <a:latin typeface="Times New Roman" panose="02020603050405020304" pitchFamily="18" charset="0"/>
                <a:cs typeface="Times New Roman" panose="02020603050405020304" pitchFamily="18" charset="0"/>
              </a:rPr>
              <a:t>Conclusion from research proposal</a:t>
            </a:r>
          </a:p>
        </p:txBody>
      </p:sp>
      <p:cxnSp>
        <p:nvCxnSpPr>
          <p:cNvPr id="19" name="Straight Connector 18">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F0E8ADB9-1098-9ED7-2E1B-11EFD672CF84}"/>
              </a:ext>
            </a:extLst>
          </p:cNvPr>
          <p:cNvSpPr txBox="1"/>
          <p:nvPr/>
        </p:nvSpPr>
        <p:spPr>
          <a:xfrm>
            <a:off x="700088" y="2353769"/>
            <a:ext cx="6400800" cy="3739896"/>
          </a:xfrm>
          <a:prstGeom prst="rect">
            <a:avLst/>
          </a:prstGeom>
        </p:spPr>
        <p:txBody>
          <a:bodyPr vert="horz" lIns="91440" tIns="45720" rIns="91440" bIns="45720" rtlCol="0">
            <a:normAutofit/>
          </a:bodyPr>
          <a:lstStyle/>
          <a:p>
            <a:pPr indent="-228600">
              <a:lnSpc>
                <a:spcPct val="110000"/>
              </a:lnSpc>
              <a:spcBef>
                <a:spcPts val="750"/>
              </a:spcBef>
              <a:spcAft>
                <a:spcPts val="9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The pandemic's effects on college mental health are profound and persistent.</a:t>
            </a:r>
          </a:p>
          <a:p>
            <a:pPr indent="-228600">
              <a:lnSpc>
                <a:spcPct val="110000"/>
              </a:lnSpc>
              <a:spcBef>
                <a:spcPts val="750"/>
              </a:spcBef>
              <a:spcAft>
                <a:spcPts val="9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Social isolation and academic disruption are consistently identified as major drivers of distress.</a:t>
            </a:r>
          </a:p>
          <a:p>
            <a:pPr indent="-228600">
              <a:lnSpc>
                <a:spcPct val="110000"/>
              </a:lnSpc>
              <a:spcBef>
                <a:spcPts val="750"/>
              </a:spcBef>
              <a:spcAft>
                <a:spcPts val="9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Targeted interventions are necessary, as some student groups are more vulnerable than others.</a:t>
            </a:r>
          </a:p>
          <a:p>
            <a:pPr indent="-228600">
              <a:lnSpc>
                <a:spcPct val="110000"/>
              </a:lnSpc>
              <a:spcBef>
                <a:spcPts val="750"/>
              </a:spcBef>
              <a:spcAft>
                <a:spcPts val="900"/>
              </a:spcAft>
              <a:buFont typeface="Arial" panose="020B0604020202020204" pitchFamily="34" charset="0"/>
              <a:buChar char="•"/>
            </a:pPr>
            <a:r>
              <a:rPr lang="en-US" sz="2000" b="0" i="0" dirty="0">
                <a:effectLst/>
                <a:latin typeface="Times New Roman" panose="02020603050405020304" pitchFamily="18" charset="0"/>
                <a:cs typeface="Times New Roman" panose="02020603050405020304" pitchFamily="18" charset="0"/>
              </a:rPr>
              <a:t>Effective coping strategies should be identified and promoted to help students build resilience.</a:t>
            </a:r>
          </a:p>
        </p:txBody>
      </p:sp>
      <p:pic>
        <p:nvPicPr>
          <p:cNvPr id="10" name="Graphic 9" descr="Brain in head">
            <a:extLst>
              <a:ext uri="{FF2B5EF4-FFF2-40B4-BE49-F238E27FC236}">
                <a16:creationId xmlns:a16="http://schemas.microsoft.com/office/drawing/2014/main" id="{4EC0BE79-4915-175B-032A-616009E2F43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21" name="Straight Connector 20">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67630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7AD227-F559-90A8-DA99-F9F4BC34A336}"/>
              </a:ext>
            </a:extLst>
          </p:cNvPr>
          <p:cNvSpPr>
            <a:spLocks noGrp="1"/>
          </p:cNvSpPr>
          <p:nvPr>
            <p:ph type="title"/>
          </p:nvPr>
        </p:nvSpPr>
        <p:spPr>
          <a:xfrm>
            <a:off x="700088" y="909637"/>
            <a:ext cx="6400800" cy="1307592"/>
          </a:xfrm>
        </p:spPr>
        <p:txBody>
          <a:bodyPr vert="horz" lIns="91440" tIns="45720" rIns="91440" bIns="45720" rtlCol="0" anchor="t">
            <a:normAutofit/>
          </a:bodyPr>
          <a:lstStyle/>
          <a:p>
            <a:r>
              <a:rPr lang="en-US" dirty="0">
                <a:latin typeface="Times New Roman" panose="02020603050405020304" pitchFamily="18" charset="0"/>
                <a:cs typeface="Times New Roman" panose="02020603050405020304" pitchFamily="18" charset="0"/>
              </a:rPr>
              <a:t>Conclusion</a:t>
            </a:r>
          </a:p>
        </p:txBody>
      </p:sp>
      <p:cxnSp>
        <p:nvCxnSpPr>
          <p:cNvPr id="19" name="Straight Connector 18">
            <a:extLst>
              <a:ext uri="{FF2B5EF4-FFF2-40B4-BE49-F238E27FC236}">
                <a16:creationId xmlns:a16="http://schemas.microsoft.com/office/drawing/2014/main" id="{8E813B4C-6731-0B72-5252-A79AB0E20B5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3900"/>
            <a:ext cx="1058875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8EAB6D2-9D15-1AD8-D7C1-EE2CEB56912D}"/>
              </a:ext>
            </a:extLst>
          </p:cNvPr>
          <p:cNvSpPr txBox="1"/>
          <p:nvPr/>
        </p:nvSpPr>
        <p:spPr>
          <a:xfrm>
            <a:off x="700088" y="2221992"/>
            <a:ext cx="6400800" cy="3739896"/>
          </a:xfrm>
          <a:prstGeom prst="rect">
            <a:avLst/>
          </a:prstGeom>
        </p:spPr>
        <p:txBody>
          <a:bodyPr vert="horz" lIns="91440" tIns="45720" rIns="91440" bIns="45720" rtlCol="0">
            <a:normAutofit fontScale="92500" lnSpcReduction="10000"/>
          </a:bodyPr>
          <a:lstStyle/>
          <a:p>
            <a:pPr>
              <a:lnSpc>
                <a:spcPct val="110000"/>
              </a:lnSpc>
              <a:spcAft>
                <a:spcPts val="600"/>
              </a:spcAft>
            </a:pPr>
            <a:r>
              <a:rPr lang="en-US" sz="2000" dirty="0">
                <a:latin typeface="Times New Roman" panose="02020603050405020304" pitchFamily="18" charset="0"/>
                <a:cs typeface="Times New Roman" panose="02020603050405020304" pitchFamily="18" charset="0"/>
              </a:rPr>
              <a:t>The COVID-19 pandemic profoundly impacted the mental health of college students, leading to a public health crisis within this population. Findings from this research study indicated that the mental distress students experienced was complex, arising from factors such as remote learning, increased social isolation, insufficient coping strategies, and various barriers to accessing mental health support. The long-term effects of these factors highlight the necessity for a reevaluation of institutional support systems and preparedness for future crises. </a:t>
            </a:r>
          </a:p>
          <a:p>
            <a:pPr>
              <a:lnSpc>
                <a:spcPct val="110000"/>
              </a:lnSpc>
              <a:spcAft>
                <a:spcPts val="600"/>
              </a:spcAft>
            </a:pPr>
            <a:r>
              <a:rPr lang="en-US" sz="20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Thank you</a:t>
            </a:r>
          </a:p>
          <a:p>
            <a:pPr>
              <a:lnSpc>
                <a:spcPct val="110000"/>
              </a:lnSpc>
              <a:spcAft>
                <a:spcPts val="600"/>
              </a:spcAft>
            </a:pPr>
            <a:endParaRPr lang="en-US" dirty="0"/>
          </a:p>
        </p:txBody>
      </p:sp>
      <p:pic>
        <p:nvPicPr>
          <p:cNvPr id="10" name="Graphic 9" descr="Education">
            <a:extLst>
              <a:ext uri="{FF2B5EF4-FFF2-40B4-BE49-F238E27FC236}">
                <a16:creationId xmlns:a16="http://schemas.microsoft.com/office/drawing/2014/main" id="{07450ECF-1ED8-4BB4-013C-7B3BF915F6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87920" y="2102261"/>
            <a:ext cx="3903980" cy="3903980"/>
          </a:xfrm>
          <a:prstGeom prst="rect">
            <a:avLst/>
          </a:prstGeom>
        </p:spPr>
      </p:pic>
      <p:cxnSp>
        <p:nvCxnSpPr>
          <p:cNvPr id="21" name="Straight Connector 20">
            <a:extLst>
              <a:ext uri="{FF2B5EF4-FFF2-40B4-BE49-F238E27FC236}">
                <a16:creationId xmlns:a16="http://schemas.microsoft.com/office/drawing/2014/main" id="{6E0E8146-6E65-2E6C-0C86-547E3C92540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9065" y="6145599"/>
            <a:ext cx="1058283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5787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00655-6CB5-54A2-7F41-77D2484DD195}"/>
              </a:ext>
            </a:extLst>
          </p:cNvPr>
          <p:cNvSpPr>
            <a:spLocks noGrp="1"/>
          </p:cNvSpPr>
          <p:nvPr>
            <p:ph type="title"/>
          </p:nvPr>
        </p:nvSpPr>
        <p:spPr>
          <a:xfrm>
            <a:off x="835742" y="914400"/>
            <a:ext cx="10556158" cy="609600"/>
          </a:xfrm>
        </p:spPr>
        <p:txBody>
          <a:bodyPr>
            <a:normAutofit fontScale="90000"/>
          </a:bodyPr>
          <a:lstStyle/>
          <a:p>
            <a:r>
              <a:rPr lang="en-US" dirty="0">
                <a:latin typeface="Times New Roman" panose="02020603050405020304" pitchFamily="18" charset="0"/>
                <a:cs typeface="Times New Roman" panose="02020603050405020304" pitchFamily="18" charset="0"/>
              </a:rPr>
              <a:t>References:</a:t>
            </a:r>
            <a:br>
              <a:rPr lang="en-US" sz="1800" dirty="0"/>
            </a:br>
            <a:br>
              <a:rPr lang="en-US" sz="1600" dirty="0"/>
            </a:br>
            <a:br>
              <a:rPr lang="en-US" sz="1600" dirty="0"/>
            </a:br>
            <a:br>
              <a:rPr lang="en-US" sz="1800" dirty="0"/>
            </a:br>
            <a:br>
              <a:rPr lang="en-US" sz="1800" dirty="0"/>
            </a:br>
            <a:endParaRPr lang="en-US" sz="1800" dirty="0"/>
          </a:p>
        </p:txBody>
      </p:sp>
      <p:sp>
        <p:nvSpPr>
          <p:cNvPr id="6" name="TextBox 5">
            <a:extLst>
              <a:ext uri="{FF2B5EF4-FFF2-40B4-BE49-F238E27FC236}">
                <a16:creationId xmlns:a16="http://schemas.microsoft.com/office/drawing/2014/main" id="{F9E814ED-9732-7439-A799-4654AA0D5C9F}"/>
              </a:ext>
            </a:extLst>
          </p:cNvPr>
          <p:cNvSpPr txBox="1"/>
          <p:nvPr/>
        </p:nvSpPr>
        <p:spPr>
          <a:xfrm>
            <a:off x="599767" y="1887794"/>
            <a:ext cx="10792131" cy="4524315"/>
          </a:xfrm>
          <a:prstGeom prst="rect">
            <a:avLst/>
          </a:prstGeom>
          <a:noFill/>
        </p:spPr>
        <p:txBody>
          <a:bodyPr wrap="square">
            <a:spAutoFit/>
          </a:bodyPr>
          <a:lstStyle/>
          <a:p>
            <a:r>
              <a:rPr lang="en-US" dirty="0" err="1">
                <a:latin typeface="Times New Roman" panose="02020603050405020304" pitchFamily="18" charset="0"/>
                <a:cs typeface="Times New Roman" panose="02020603050405020304" pitchFamily="18" charset="0"/>
              </a:rPr>
              <a:t>Ahuvia</a:t>
            </a:r>
            <a:r>
              <a:rPr lang="en-US" dirty="0">
                <a:latin typeface="Times New Roman" panose="02020603050405020304" pitchFamily="18" charset="0"/>
                <a:cs typeface="Times New Roman" panose="02020603050405020304" pitchFamily="18" charset="0"/>
              </a:rPr>
              <a:t>, I., Dobias, M., Cohen, K., Nelson, B. D., Richmond, L. L., London, B., &amp; Schleider, J. L. (2023). Loss of mental health support among college students during the COVID-19 pandemic. </a:t>
            </a:r>
            <a:r>
              <a:rPr lang="en-US" i="1" dirty="0">
                <a:latin typeface="Times New Roman" panose="02020603050405020304" pitchFamily="18" charset="0"/>
                <a:cs typeface="Times New Roman" panose="02020603050405020304" pitchFamily="18" charset="0"/>
              </a:rPr>
              <a:t>Journal of American College Health</a:t>
            </a:r>
            <a:r>
              <a:rPr lang="en-US" dirty="0">
                <a:latin typeface="Times New Roman" panose="02020603050405020304" pitchFamily="18" charset="0"/>
                <a:cs typeface="Times New Roman" panose="02020603050405020304" pitchFamily="18" charset="0"/>
              </a:rPr>
              <a:t>, 1–7. https://doi.org/10.1080/07448481.2023.2245917</a:t>
            </a:r>
          </a:p>
          <a:p>
            <a:endParaRPr lang="en-US" dirty="0"/>
          </a:p>
          <a:p>
            <a:r>
              <a:rPr lang="en-US" dirty="0">
                <a:latin typeface="Times New Roman" panose="02020603050405020304" pitchFamily="18" charset="0"/>
                <a:cs typeface="Times New Roman" panose="02020603050405020304" pitchFamily="18" charset="0"/>
              </a:rPr>
              <a:t>Chen, C. K., Jew, A., Chui, C., Horn, J., Kim, E., Melkonian, D., &amp; Eisenberg, D. (2023). Impact of the COVID-19 pandemic on college students’ mental health and lifestyle factors. </a:t>
            </a:r>
            <a:r>
              <a:rPr lang="en-US" i="1" dirty="0">
                <a:latin typeface="Times New Roman" panose="02020603050405020304" pitchFamily="18" charset="0"/>
                <a:cs typeface="Times New Roman" panose="02020603050405020304" pitchFamily="18" charset="0"/>
              </a:rPr>
              <a:t>Journal of American College Health</a:t>
            </a:r>
            <a:r>
              <a:rPr lang="en-US" dirty="0">
                <a:latin typeface="Times New Roman" panose="02020603050405020304" pitchFamily="18" charset="0"/>
                <a:cs typeface="Times New Roman" panose="02020603050405020304" pitchFamily="18" charset="0"/>
              </a:rPr>
              <a:t>, 1–9. https://doi.org/10.1080/07448481.2023.2266000</a:t>
            </a:r>
            <a:endParaRPr lang="en-US" b="0" i="0" dirty="0">
              <a:solidFill>
                <a:srgbClr val="2C3E50"/>
              </a:solidFill>
              <a:effectLst/>
              <a:latin typeface="Times New Roman" panose="02020603050405020304" pitchFamily="18" charset="0"/>
              <a:cs typeface="Times New Roman" panose="02020603050405020304" pitchFamily="18" charset="0"/>
            </a:endParaRPr>
          </a:p>
          <a:p>
            <a:endParaRPr lang="en-US" b="0" i="0" dirty="0">
              <a:solidFill>
                <a:srgbClr val="2C3E50"/>
              </a:solidFill>
              <a:effectLst/>
              <a:latin typeface="Calibri" panose="020F0502020204030204" pitchFamily="34" charset="0"/>
            </a:endParaRPr>
          </a:p>
          <a:p>
            <a:r>
              <a:rPr lang="en-US" b="0" i="0" dirty="0" err="1">
                <a:solidFill>
                  <a:srgbClr val="2C3E50"/>
                </a:solidFill>
                <a:effectLst/>
                <a:latin typeface="Times New Roman" panose="02020603050405020304" pitchFamily="18" charset="0"/>
                <a:cs typeface="Times New Roman" panose="02020603050405020304" pitchFamily="18" charset="0"/>
              </a:rPr>
              <a:t>Lyubetsky</a:t>
            </a:r>
            <a:r>
              <a:rPr lang="en-US" b="0" i="0" dirty="0">
                <a:solidFill>
                  <a:srgbClr val="2C3E50"/>
                </a:solidFill>
                <a:effectLst/>
                <a:latin typeface="Times New Roman" panose="02020603050405020304" pitchFamily="18" charset="0"/>
                <a:cs typeface="Times New Roman" panose="02020603050405020304" pitchFamily="18" charset="0"/>
              </a:rPr>
              <a:t>, N., Bendersky, N., Verina, T., </a:t>
            </a:r>
            <a:r>
              <a:rPr lang="en-US" b="0" i="0" dirty="0" err="1">
                <a:solidFill>
                  <a:srgbClr val="2C3E50"/>
                </a:solidFill>
                <a:effectLst/>
                <a:latin typeface="Times New Roman" panose="02020603050405020304" pitchFamily="18" charset="0"/>
                <a:cs typeface="Times New Roman" panose="02020603050405020304" pitchFamily="18" charset="0"/>
              </a:rPr>
              <a:t>Demyanova</a:t>
            </a:r>
            <a:r>
              <a:rPr lang="en-US" b="0" i="0" dirty="0">
                <a:solidFill>
                  <a:srgbClr val="2C3E50"/>
                </a:solidFill>
                <a:effectLst/>
                <a:latin typeface="Times New Roman" panose="02020603050405020304" pitchFamily="18" charset="0"/>
                <a:cs typeface="Times New Roman" panose="02020603050405020304" pitchFamily="18" charset="0"/>
              </a:rPr>
              <a:t>, L., &amp; Arkhipova, D. (2021). IMPACT of distance learning on student mental health in the COVID-19 pandemic. </a:t>
            </a:r>
            <a:r>
              <a:rPr lang="en-US" b="0" i="1" dirty="0">
                <a:solidFill>
                  <a:srgbClr val="2C3E50"/>
                </a:solidFill>
                <a:effectLst/>
                <a:latin typeface="Times New Roman" panose="02020603050405020304" pitchFamily="18" charset="0"/>
                <a:cs typeface="Times New Roman" panose="02020603050405020304" pitchFamily="18" charset="0"/>
              </a:rPr>
              <a:t>E3S Web of Conferences</a:t>
            </a:r>
            <a:r>
              <a:rPr lang="en-US" b="0" i="0" dirty="0">
                <a:solidFill>
                  <a:srgbClr val="2C3E50"/>
                </a:solidFill>
                <a:effectLst/>
                <a:latin typeface="Times New Roman" panose="02020603050405020304" pitchFamily="18" charset="0"/>
                <a:cs typeface="Times New Roman" panose="02020603050405020304" pitchFamily="18" charset="0"/>
              </a:rPr>
              <a:t>, </a:t>
            </a:r>
            <a:r>
              <a:rPr lang="en-US" b="0" i="1" dirty="0">
                <a:solidFill>
                  <a:srgbClr val="2C3E50"/>
                </a:solidFill>
                <a:effectLst/>
                <a:latin typeface="Times New Roman" panose="02020603050405020304" pitchFamily="18" charset="0"/>
                <a:cs typeface="Times New Roman" panose="02020603050405020304" pitchFamily="18" charset="0"/>
              </a:rPr>
              <a:t>273</a:t>
            </a:r>
            <a:r>
              <a:rPr lang="en-US" b="0" i="0" dirty="0">
                <a:solidFill>
                  <a:srgbClr val="2C3E50"/>
                </a:solidFill>
                <a:effectLst/>
                <a:latin typeface="Times New Roman" panose="02020603050405020304" pitchFamily="18" charset="0"/>
                <a:cs typeface="Times New Roman" panose="02020603050405020304" pitchFamily="18" charset="0"/>
              </a:rPr>
              <a:t>, 10036. </a:t>
            </a:r>
            <a:r>
              <a:rPr lang="en-US" b="0" i="0" dirty="0">
                <a:solidFill>
                  <a:srgbClr val="2C3E50"/>
                </a:solidFill>
                <a:effectLst/>
                <a:latin typeface="Times New Roman" panose="02020603050405020304" pitchFamily="18" charset="0"/>
                <a:cs typeface="Times New Roman" panose="02020603050405020304" pitchFamily="18" charset="0"/>
                <a:hlinkClick r:id="rId2"/>
              </a:rPr>
              <a:t>https://doi.org/10.1051/e3sconf/202127310036</a:t>
            </a:r>
            <a:endParaRPr lang="en-US" b="0" i="0" dirty="0">
              <a:solidFill>
                <a:srgbClr val="2C3E50"/>
              </a:solidFill>
              <a:effectLst/>
              <a:latin typeface="Times New Roman" panose="02020603050405020304" pitchFamily="18" charset="0"/>
              <a:cs typeface="Times New Roman" panose="02020603050405020304" pitchFamily="18" charset="0"/>
            </a:endParaRPr>
          </a:p>
          <a:p>
            <a:endParaRPr lang="en-US" dirty="0">
              <a:solidFill>
                <a:srgbClr val="2C3E50"/>
              </a:solidFill>
              <a:latin typeface="Calibri" panose="020F0502020204030204" pitchFamily="34" charset="0"/>
            </a:endParaRPr>
          </a:p>
          <a:p>
            <a:r>
              <a:rPr lang="en-US" dirty="0">
                <a:latin typeface="Times New Roman" panose="02020603050405020304" pitchFamily="18" charset="0"/>
                <a:cs typeface="Times New Roman" panose="02020603050405020304" pitchFamily="18" charset="0"/>
              </a:rPr>
              <a:t>Xiong, Y., Rose </a:t>
            </a:r>
            <a:r>
              <a:rPr lang="en-US" dirty="0" err="1">
                <a:latin typeface="Times New Roman" panose="02020603050405020304" pitchFamily="18" charset="0"/>
                <a:cs typeface="Times New Roman" panose="02020603050405020304" pitchFamily="18" charset="0"/>
              </a:rPr>
              <a:t>Parasath</a:t>
            </a:r>
            <a:r>
              <a:rPr lang="en-US" dirty="0">
                <a:latin typeface="Times New Roman" panose="02020603050405020304" pitchFamily="18" charset="0"/>
                <a:cs typeface="Times New Roman" panose="02020603050405020304" pitchFamily="18" charset="0"/>
              </a:rPr>
              <a:t>, P., Zhang, Q., &amp; Jeon, L. (2022). International students’ perceived discrimination and psychological distress during the COVID-19 pandemic. </a:t>
            </a:r>
            <a:r>
              <a:rPr lang="en-US" i="1" dirty="0">
                <a:latin typeface="Times New Roman" panose="02020603050405020304" pitchFamily="18" charset="0"/>
                <a:cs typeface="Times New Roman" panose="02020603050405020304" pitchFamily="18" charset="0"/>
              </a:rPr>
              <a:t>Journal of American College Health</a:t>
            </a:r>
            <a:r>
              <a:rPr lang="en-US" dirty="0">
                <a:latin typeface="Times New Roman" panose="02020603050405020304" pitchFamily="18" charset="0"/>
                <a:cs typeface="Times New Roman" panose="02020603050405020304" pitchFamily="18" charset="0"/>
              </a:rPr>
              <a:t>, 1–12. </a:t>
            </a:r>
            <a:r>
              <a:rPr lang="en-US" dirty="0">
                <a:latin typeface="Times New Roman" panose="02020603050405020304" pitchFamily="18" charset="0"/>
                <a:cs typeface="Times New Roman" panose="02020603050405020304" pitchFamily="18" charset="0"/>
                <a:hlinkClick r:id="rId3"/>
              </a:rPr>
              <a:t>https://doi.org/10.1080/07448481.2022.2059376</a:t>
            </a:r>
            <a:endParaRPr lang="en-US"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833235229"/>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6</TotalTime>
  <Words>1332</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Calisto MT</vt:lpstr>
      <vt:lpstr>Times New Roman</vt:lpstr>
      <vt:lpstr>Univers Condensed</vt:lpstr>
      <vt:lpstr>ChronicleVTI</vt:lpstr>
      <vt:lpstr>The Impact of COVID-19 Pandemic on Mental Health Among College Students</vt:lpstr>
      <vt:lpstr>Introduction and areas of professional concern</vt:lpstr>
      <vt:lpstr>Problem statement</vt:lpstr>
      <vt:lpstr>Research Questions</vt:lpstr>
      <vt:lpstr>Literature Review</vt:lpstr>
      <vt:lpstr>Research Methodology and design</vt:lpstr>
      <vt:lpstr>Data collection and analysis</vt:lpstr>
      <vt:lpstr>Conclusion from research proposal</vt:lpstr>
      <vt:lpstr>Conclusion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Huyen B.</dc:creator>
  <cp:lastModifiedBy>Nguyen, Huyen B.</cp:lastModifiedBy>
  <cp:revision>1</cp:revision>
  <dcterms:created xsi:type="dcterms:W3CDTF">2025-10-30T19:51:35Z</dcterms:created>
  <dcterms:modified xsi:type="dcterms:W3CDTF">2025-10-31T00:30:31Z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528a15d-fe30-4bc2-853f-da171899c8c3_Enabled">
    <vt:lpwstr>true</vt:lpwstr>
  </property>
  <property fmtid="{D5CDD505-2E9C-101B-9397-08002B2CF9AE}" pid="3" name="MSIP_Label_7528a15d-fe30-4bc2-853f-da171899c8c3_SetDate">
    <vt:lpwstr>2025-10-31T00:24:29Z</vt:lpwstr>
  </property>
  <property fmtid="{D5CDD505-2E9C-101B-9397-08002B2CF9AE}" pid="4" name="MSIP_Label_7528a15d-fe30-4bc2-853f-da171899c8c3_Method">
    <vt:lpwstr>Standard</vt:lpwstr>
  </property>
  <property fmtid="{D5CDD505-2E9C-101B-9397-08002B2CF9AE}" pid="5" name="MSIP_Label_7528a15d-fe30-4bc2-853f-da171899c8c3_Name">
    <vt:lpwstr>Private Data</vt:lpwstr>
  </property>
  <property fmtid="{D5CDD505-2E9C-101B-9397-08002B2CF9AE}" pid="6" name="MSIP_Label_7528a15d-fe30-4bc2-853f-da171899c8c3_SiteId">
    <vt:lpwstr>5bd0d628-d6ea-4086-954f-69792a5faa57</vt:lpwstr>
  </property>
  <property fmtid="{D5CDD505-2E9C-101B-9397-08002B2CF9AE}" pid="7" name="MSIP_Label_7528a15d-fe30-4bc2-853f-da171899c8c3_ActionId">
    <vt:lpwstr>d5606469-d07c-40a1-9412-ee87e528480d</vt:lpwstr>
  </property>
  <property fmtid="{D5CDD505-2E9C-101B-9397-08002B2CF9AE}" pid="8" name="MSIP_Label_7528a15d-fe30-4bc2-853f-da171899c8c3_ContentBits">
    <vt:lpwstr>2</vt:lpwstr>
  </property>
  <property fmtid="{D5CDD505-2E9C-101B-9397-08002B2CF9AE}" pid="9" name="MSIP_Label_7528a15d-fe30-4bc2-853f-da171899c8c3_Tag">
    <vt:lpwstr>10, 3, 0, 1</vt:lpwstr>
  </property>
  <property fmtid="{D5CDD505-2E9C-101B-9397-08002B2CF9AE}" pid="10" name="ClassificationContentMarkingFooterLocations">
    <vt:lpwstr>ChronicleVTI:10</vt:lpwstr>
  </property>
  <property fmtid="{D5CDD505-2E9C-101B-9397-08002B2CF9AE}" pid="11" name="ClassificationContentMarkingFooterText">
    <vt:lpwstr>Private Information</vt:lpwstr>
  </property>
</Properties>
</file>